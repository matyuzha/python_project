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7FA889-CB22-4FBB-A4BB-F2C16018C792}">
  <a:tblStyle styleId="{BB7FA889-CB22-4FBB-A4BB-F2C16018C79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217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68377" y="3059668"/>
            <a:ext cx="945524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Система </a:t>
            </a:r>
            <a:r>
              <a:rPr lang="en-US" sz="4800" b="0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управления</a:t>
            </a:r>
            <a:r>
              <a:rPr lang="en-US" sz="4800" b="0" i="0" u="none" strike="noStrike" cap="none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 </a:t>
            </a:r>
            <a:r>
              <a:rPr lang="en-US" sz="48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файлами</a:t>
            </a:r>
            <a:endParaRPr lang="ru-RU" sz="4800" dirty="0">
              <a:solidFill>
                <a:srgbClr val="38BDF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Poppins SemiBold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D136243-20B1-9C68-8158-BA769335273B}"/>
              </a:ext>
            </a:extLst>
          </p:cNvPr>
          <p:cNvSpPr txBox="1">
            <a:spLocks/>
          </p:cNvSpPr>
          <p:nvPr/>
        </p:nvSpPr>
        <p:spPr>
          <a:xfrm>
            <a:off x="1560179" y="261719"/>
            <a:ext cx="9071640" cy="11443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000" b="1" dirty="0">
                <a:solidFill>
                  <a:schemeClr val="bg1"/>
                </a:solidFill>
              </a:rPr>
              <a:t>Государственное бюджетное профессиональное образовательное учреждение Московской области „Физико-технический колледж“</a:t>
            </a:r>
            <a:br>
              <a:rPr lang="ru-RU" sz="2000" b="1" dirty="0">
                <a:solidFill>
                  <a:schemeClr val="bg1"/>
                </a:solidFill>
              </a:rPr>
            </a:br>
            <a:r>
              <a:rPr lang="ru-RU" sz="2000" b="1" dirty="0">
                <a:solidFill>
                  <a:schemeClr val="bg1"/>
                </a:solidFill>
              </a:rPr>
              <a:t>(ГБПОУ МО „Физтех-колледж“)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59C82-FF52-7AFC-8C84-EF003BE7A059}"/>
              </a:ext>
            </a:extLst>
          </p:cNvPr>
          <p:cNvSpPr txBox="1"/>
          <p:nvPr/>
        </p:nvSpPr>
        <p:spPr>
          <a:xfrm>
            <a:off x="8197731" y="5156428"/>
            <a:ext cx="3741227" cy="1030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2000" b="0" i="0" u="none" strike="noStrike" kern="1200" cap="none" dirty="0">
                <a:ln>
                  <a:noFill/>
                </a:ln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Выполнили студент</a:t>
            </a:r>
            <a:r>
              <a:rPr lang="ru-RU" sz="2000" kern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ы</a:t>
            </a:r>
            <a:r>
              <a:rPr lang="ru-RU" sz="2000" b="0" i="0" u="none" strike="noStrike" kern="1200" cap="none" dirty="0">
                <a:ln>
                  <a:noFill/>
                </a:ln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kern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ru-RU" sz="2000" b="0" i="0" u="none" strike="noStrike" kern="1200" cap="none" dirty="0">
                <a:ln>
                  <a:noFill/>
                </a:ln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курса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2000" b="0" i="0" u="none" strike="noStrike" kern="1200" cap="none" dirty="0">
                <a:ln>
                  <a:noFill/>
                </a:ln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Казарезов Матвей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2000" kern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Алябьев Денис </a:t>
            </a:r>
            <a:r>
              <a:rPr lang="ru-RU" sz="2000" b="0" i="0" u="none" strike="noStrike" kern="1200" cap="none" dirty="0">
                <a:ln>
                  <a:noFill/>
                </a:ln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группы ИСП-42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53225" y="1811244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2750" y="1820769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7661" y="1518184"/>
            <a:ext cx="596516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Беспорядочное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накопление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Постоянные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загрузки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медиа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документов</a:t>
            </a:r>
            <a:r>
              <a:rPr lang="en-US" sz="20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“</a:t>
            </a:r>
            <a:r>
              <a:rPr lang="ru-RU" sz="20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убивают</a:t>
            </a:r>
            <a:r>
              <a:rPr lang="en-US" sz="20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”</a:t>
            </a:r>
            <a:r>
              <a:rPr lang="ru-RU" sz="20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диск</a:t>
            </a:r>
            <a:endParaRPr sz="2000"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762448" y="3059668"/>
            <a:ext cx="5970378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Риск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потери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данных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Ручная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сортировка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человеческим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фактором</a:t>
            </a:r>
            <a:endParaRPr sz="2000"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767662" y="4601152"/>
            <a:ext cx="572803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Затраты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ресурсов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ОС: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Дубликаты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невостребованные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тяжелые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файлы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“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засоряют</a:t>
            </a:r>
            <a:r>
              <a:rPr lang="en-US" sz="20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”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память</a:t>
            </a:r>
            <a:endParaRPr sz="2000"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358355" y="1751801"/>
            <a:ext cx="1905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sz="2000"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358355" y="3368738"/>
            <a:ext cx="1905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sz="2000"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402566" y="5093594"/>
            <a:ext cx="1905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sz="2000"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497816" y="482426"/>
            <a:ext cx="7990576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 err="1">
                <a:solidFill>
                  <a:srgbClr val="38BDF8"/>
                </a:solidFill>
                <a:latin typeface="Inter" panose="020B0604020202020204" charset="0"/>
                <a:ea typeface="Inter" panose="020B0604020202020204" charset="0"/>
                <a:cs typeface="Poppins SemiBold"/>
                <a:sym typeface="Poppins SemiBold"/>
              </a:rPr>
              <a:t>Проблема</a:t>
            </a:r>
            <a:r>
              <a:rPr lang="en-US" sz="4000" b="0" i="0" u="none" strike="noStrike" cap="none" dirty="0">
                <a:solidFill>
                  <a:srgbClr val="38BDF8"/>
                </a:solidFill>
                <a:latin typeface="Inter" panose="020B0604020202020204" charset="0"/>
                <a:ea typeface="Inter" panose="020B0604020202020204" charset="0"/>
                <a:cs typeface="Poppins SemiBold"/>
                <a:sym typeface="Poppins SemiBold"/>
              </a:rPr>
              <a:t> </a:t>
            </a:r>
            <a:r>
              <a:rPr lang="en-US" sz="4000" b="0" i="0" u="none" strike="noStrike" cap="none" dirty="0" err="1">
                <a:solidFill>
                  <a:srgbClr val="38BDF8"/>
                </a:solidFill>
                <a:latin typeface="Inter" panose="020B0604020202020204" charset="0"/>
                <a:ea typeface="Inter" panose="020B0604020202020204" charset="0"/>
                <a:cs typeface="Poppins SemiBold"/>
                <a:sym typeface="Poppins SemiBold"/>
              </a:rPr>
              <a:t>цифрового</a:t>
            </a:r>
            <a:r>
              <a:rPr lang="en-US" sz="4000" b="0" i="0" u="none" strike="noStrike" cap="none" dirty="0">
                <a:solidFill>
                  <a:srgbClr val="38BDF8"/>
                </a:solidFill>
                <a:latin typeface="Inter" panose="020B0604020202020204" charset="0"/>
                <a:ea typeface="Inter" panose="020B0604020202020204" charset="0"/>
                <a:cs typeface="Poppins SemiBold"/>
                <a:sym typeface="Poppins SemiBold"/>
              </a:rPr>
              <a:t> </a:t>
            </a:r>
            <a:r>
              <a:rPr lang="en-US" sz="4000" b="0" i="0" u="none" strike="noStrike" cap="none" dirty="0" err="1">
                <a:solidFill>
                  <a:srgbClr val="38BDF8"/>
                </a:solidFill>
                <a:latin typeface="Inter" panose="020B0604020202020204" charset="0"/>
                <a:ea typeface="Inter" panose="020B0604020202020204" charset="0"/>
                <a:cs typeface="Poppins SemiBold"/>
                <a:sym typeface="Poppins SemiBold"/>
              </a:rPr>
              <a:t>хаоса</a:t>
            </a:r>
            <a:endParaRPr sz="4000" dirty="0"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38350"/>
            <a:ext cx="3429000" cy="373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038350"/>
            <a:ext cx="3429000" cy="373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038350"/>
            <a:ext cx="3429000" cy="373365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088458" y="3283862"/>
            <a:ext cx="239508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Безопасность</a:t>
            </a:r>
            <a:endParaRPr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866775" y="3867150"/>
            <a:ext cx="28384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Интегрирован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механизм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автоматического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создания</a:t>
            </a:r>
            <a:r>
              <a:rPr lang="en-US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бэкапов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169390" y="3283861"/>
            <a:ext cx="185321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Аналитика</a:t>
            </a:r>
            <a:endParaRPr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4676775" y="3867150"/>
            <a:ext cx="28384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Детальный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предпросмотр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файлов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и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финальны</a:t>
            </a:r>
            <a:r>
              <a:rPr lang="ru-RU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й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HTML-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отчет</a:t>
            </a:r>
            <a:r>
              <a:rPr lang="en-US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.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9037808" y="3283861"/>
            <a:ext cx="173638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Гибкость</a:t>
            </a:r>
            <a:endParaRPr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8399880" y="3867150"/>
            <a:ext cx="3012236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Поддержка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распределения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по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расширениям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,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дате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или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ru-RU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весу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28825" y="2476500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05487" y="2476500"/>
            <a:ext cx="58102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15487" y="2476500"/>
            <a:ext cx="58102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71500" y="571500"/>
            <a:ext cx="116014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Философия</a:t>
            </a:r>
            <a:r>
              <a:rPr lang="en-US" sz="4000" b="0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 </a:t>
            </a:r>
            <a:r>
              <a:rPr lang="en-US" sz="4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решения</a:t>
            </a:r>
            <a:endParaRPr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469960" y="2856383"/>
            <a:ext cx="5286375" cy="1731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4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4433738"/>
            <a:ext cx="52863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Ключевых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инструмента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6667500" y="1714348"/>
            <a:ext cx="550545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Streamlit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Фреймворк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для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создания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реактивного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веб-интерфейса</a:t>
            </a:r>
            <a:r>
              <a:rPr lang="en-US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.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6667500" y="3037641"/>
            <a:ext cx="5505449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Pandas &amp; Plotly: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Структурирование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метаданных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в </a:t>
            </a:r>
            <a:r>
              <a:rPr lang="ru-RU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таблицы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6686550" y="4304617"/>
            <a:ext cx="49530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Pathlib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&amp; </a:t>
            </a:r>
            <a:r>
              <a:rPr lang="en-US" sz="2000" b="1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Shutil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ru-RU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В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ыполнение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файловых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операций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.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6686550" y="5627910"/>
            <a:ext cx="4953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Zipfile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Создание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резервных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копий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6238875" y="1920330"/>
            <a:ext cx="1905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→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6232585" y="3245458"/>
            <a:ext cx="1905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→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6238875" y="4433738"/>
            <a:ext cx="1905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→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6238875" y="5627911"/>
            <a:ext cx="1905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→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571500"/>
            <a:ext cx="116014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Технологический стек</a:t>
            </a:r>
            <a:endParaRPr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571500"/>
            <a:ext cx="5550693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Архитектура</a:t>
            </a:r>
            <a:r>
              <a:rPr lang="en-US" sz="4000" b="0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 </a:t>
            </a:r>
            <a:r>
              <a:rPr lang="en-US" sz="4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системы</a:t>
            </a:r>
            <a:endParaRPr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499" y="1594009"/>
            <a:ext cx="567402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Уровень представления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рием</a:t>
            </a:r>
            <a:r>
              <a:rPr lang="ru-RU" sz="20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ввода и передача пути целевой директории.</a:t>
            </a:r>
            <a:endParaRPr sz="2000"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571499" y="3141345"/>
            <a:ext cx="55245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Уровень логики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20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Получение</a:t>
            </a:r>
            <a:r>
              <a:rPr lang="ru-RU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списка файлов через системные операции.</a:t>
            </a:r>
            <a:endParaRPr sz="2000"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545305" y="4688681"/>
            <a:ext cx="5550694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Системный уровень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ru-RU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Выполняет</a:t>
            </a:r>
            <a:r>
              <a:rPr lang="ru-RU" sz="20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перемещение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данных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shutil.move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 и </a:t>
            </a:r>
            <a:r>
              <a:rPr lang="ru-RU" sz="20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отправляет статус по каждому файлу.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/>
          <p:nvPr/>
        </p:nvSpPr>
        <p:spPr>
          <a:xfrm>
            <a:off x="571500" y="2137469"/>
            <a:ext cx="11049000" cy="3535560"/>
          </a:xfrm>
          <a:prstGeom prst="roundRect">
            <a:avLst>
              <a:gd name="adj" fmla="val 0"/>
            </a:avLst>
          </a:prstGeom>
          <a:solidFill>
            <a:srgbClr val="0F172A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4" name="Google Shape;154;p18"/>
          <p:cNvGraphicFramePr/>
          <p:nvPr>
            <p:extLst>
              <p:ext uri="{D42A27DB-BD31-4B8C-83A1-F6EECF244321}">
                <p14:modId xmlns:p14="http://schemas.microsoft.com/office/powerpoint/2010/main" val="3854167554"/>
              </p:ext>
            </p:extLst>
          </p:nvPr>
        </p:nvGraphicFramePr>
        <p:xfrm>
          <a:off x="571500" y="1524807"/>
          <a:ext cx="11049000" cy="4951385"/>
        </p:xfrm>
        <a:graphic>
          <a:graphicData uri="http://schemas.openxmlformats.org/drawingml/2006/table">
            <a:tbl>
              <a:tblPr firstRow="1" bandRow="1">
                <a:noFill/>
                <a:tableStyleId>{BB7FA889-CB22-4FBB-A4BB-F2C16018C792}</a:tableStyleId>
              </a:tblPr>
              <a:tblGrid>
                <a:gridCol w="218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oppins SemiBold"/>
                        </a:rPr>
                        <a:t>Категория</a:t>
                      </a:r>
                      <a:endParaRPr sz="20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oppins SemiBold"/>
                        </a:rPr>
                        <a:t>Расширения</a:t>
                      </a:r>
                      <a:endParaRPr sz="20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oppins SemiBold"/>
                        </a:rPr>
                        <a:t>Типовой</a:t>
                      </a:r>
                      <a:r>
                        <a:rPr lang="en-US" sz="2000" b="1" i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oppins SemiBold"/>
                        </a:rPr>
                        <a:t> </a:t>
                      </a:r>
                      <a:r>
                        <a:rPr lang="en-US" sz="2000" b="1" i="0" u="none" strike="noStrike" cap="none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oppins SemiBold"/>
                        </a:rPr>
                        <a:t>контент</a:t>
                      </a:r>
                      <a:endParaRPr sz="20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06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Изображения</a:t>
                      </a:r>
                      <a:endParaRPr sz="20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.jpg, .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png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.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svg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.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webp</a:t>
                      </a:r>
                      <a:endParaRPr sz="20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Векторная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графика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фотографии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иконки</a:t>
                      </a:r>
                      <a:endParaRPr sz="20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134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Документы</a:t>
                      </a:r>
                      <a:endParaRPr sz="20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.pdf, .docx, .xlsx, .csv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Текстовые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отчеты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таблицы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электронные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книги</a:t>
                      </a:r>
                      <a:endParaRPr sz="20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397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Исходный</a:t>
                      </a:r>
                      <a:r>
                        <a:rPr lang="en-US" sz="200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2000" b="1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код</a:t>
                      </a:r>
                      <a:endParaRPr sz="20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.py, .js, .html, .json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Скрипты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дампы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БД,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конфигурационные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файлы</a:t>
                      </a:r>
                      <a:endParaRPr sz="20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828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Архивы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.zip, .rar, .7z, .tar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Инсталляторы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резервные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копии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наборы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данных</a:t>
                      </a:r>
                      <a:endParaRPr sz="20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7" name="Google Shape;167;p18"/>
          <p:cNvSpPr txBox="1"/>
          <p:nvPr/>
        </p:nvSpPr>
        <p:spPr>
          <a:xfrm>
            <a:off x="571500" y="571500"/>
            <a:ext cx="116014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Классификация</a:t>
            </a:r>
            <a:r>
              <a:rPr lang="en-US" sz="4000" b="0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 </a:t>
            </a:r>
            <a:r>
              <a:rPr lang="en-US" sz="4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данных</a:t>
            </a:r>
            <a:endParaRPr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47912"/>
            <a:ext cx="5334000" cy="3114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347912"/>
            <a:ext cx="5334000" cy="311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734378" y="2614612"/>
            <a:ext cx="478059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Обработка</a:t>
            </a:r>
            <a:r>
              <a:rPr lang="en-US" sz="3000" b="0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 </a:t>
            </a:r>
            <a:r>
              <a:rPr lang="en-US" sz="3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коллизий</a:t>
            </a:r>
            <a:endParaRPr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734378" y="3284472"/>
            <a:ext cx="5073176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Если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в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целевой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папке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уже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присутствует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файл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data.csv,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скрипт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рекурсивно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генерирует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новое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уникальное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имя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data_1.csv.</a:t>
            </a:r>
            <a:endParaRPr sz="2000" dirty="0">
              <a:latin typeface="Inter" panose="020B0604020202020204" charset="0"/>
              <a:ea typeface="Inter" panose="020B0604020202020204" charset="0"/>
              <a:cs typeface="Calibri" panose="020F0502020204030204" pitchFamily="34" charset="0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6477000" y="2614612"/>
            <a:ext cx="478059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Изоляция</a:t>
            </a:r>
            <a:r>
              <a:rPr lang="en-US" sz="3000" b="0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 </a:t>
            </a:r>
            <a:r>
              <a:rPr lang="en-US" sz="3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системных</a:t>
            </a:r>
            <a:r>
              <a:rPr lang="en-US" sz="3000" b="0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 </a:t>
            </a:r>
            <a:r>
              <a:rPr lang="en-US" sz="3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ошибок</a:t>
            </a:r>
            <a:endParaRPr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6477000" y="3233360"/>
            <a:ext cx="5236054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При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попытке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переместить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заблокированный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или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системный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файл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программа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лишь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запишет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ошибку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в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лог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прерывая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обработку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массива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571500"/>
            <a:ext cx="116014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Отказоустойчивость</a:t>
            </a:r>
            <a:endParaRPr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98;p20">
            <a:extLst>
              <a:ext uri="{FF2B5EF4-FFF2-40B4-BE49-F238E27FC236}">
                <a16:creationId xmlns:a16="http://schemas.microsoft.com/office/drawing/2014/main" id="{367C3991-AFC9-7428-3B32-5615962B2A88}"/>
              </a:ext>
            </a:extLst>
          </p:cNvPr>
          <p:cNvSpPr txBox="1"/>
          <p:nvPr/>
        </p:nvSpPr>
        <p:spPr>
          <a:xfrm>
            <a:off x="531242" y="283565"/>
            <a:ext cx="11129513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П</a:t>
            </a:r>
            <a:r>
              <a:rPr lang="ru-RU" sz="4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очему</a:t>
            </a:r>
            <a:r>
              <a:rPr lang="ru-RU" sz="4000" b="0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 наш сортировщик лучше остальных?</a:t>
            </a:r>
            <a:endParaRPr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A7455525-5DD5-305A-3CDE-DEA1DFC25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35295"/>
              </p:ext>
            </p:extLst>
          </p:nvPr>
        </p:nvGraphicFramePr>
        <p:xfrm>
          <a:off x="531242" y="1182683"/>
          <a:ext cx="11316201" cy="5391752"/>
        </p:xfrm>
        <a:graphic>
          <a:graphicData uri="http://schemas.openxmlformats.org/drawingml/2006/table">
            <a:tbl>
              <a:tblPr>
                <a:tableStyleId>{BB7FA889-CB22-4FBB-A4BB-F2C16018C792}</a:tableStyleId>
              </a:tblPr>
              <a:tblGrid>
                <a:gridCol w="2299241">
                  <a:extLst>
                    <a:ext uri="{9D8B030D-6E8A-4147-A177-3AD203B41FA5}">
                      <a16:colId xmlns:a16="http://schemas.microsoft.com/office/drawing/2014/main" val="2110919417"/>
                    </a:ext>
                  </a:extLst>
                </a:gridCol>
                <a:gridCol w="2244733">
                  <a:extLst>
                    <a:ext uri="{9D8B030D-6E8A-4147-A177-3AD203B41FA5}">
                      <a16:colId xmlns:a16="http://schemas.microsoft.com/office/drawing/2014/main" val="2154380708"/>
                    </a:ext>
                  </a:extLst>
                </a:gridCol>
                <a:gridCol w="2160493">
                  <a:extLst>
                    <a:ext uri="{9D8B030D-6E8A-4147-A177-3AD203B41FA5}">
                      <a16:colId xmlns:a16="http://schemas.microsoft.com/office/drawing/2014/main" val="3124859812"/>
                    </a:ext>
                  </a:extLst>
                </a:gridCol>
                <a:gridCol w="2423122">
                  <a:extLst>
                    <a:ext uri="{9D8B030D-6E8A-4147-A177-3AD203B41FA5}">
                      <a16:colId xmlns:a16="http://schemas.microsoft.com/office/drawing/2014/main" val="2340013554"/>
                    </a:ext>
                  </a:extLst>
                </a:gridCol>
                <a:gridCol w="2188612">
                  <a:extLst>
                    <a:ext uri="{9D8B030D-6E8A-4147-A177-3AD203B41FA5}">
                      <a16:colId xmlns:a16="http://schemas.microsoft.com/office/drawing/2014/main" val="2511920903"/>
                    </a:ext>
                  </a:extLst>
                </a:gridCol>
              </a:tblGrid>
              <a:tr h="70008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Функция</a:t>
                      </a:r>
                      <a:endParaRPr lang="ru-RU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Обычные скрипты с  </a:t>
                      </a: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GitHub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DropIt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Проводник </a:t>
                      </a: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Windows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Наш проект</a:t>
                      </a:r>
                      <a:endParaRPr lang="ru-RU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879328"/>
                  </a:ext>
                </a:extLst>
              </a:tr>
              <a:tr h="10046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Интерфейс</a:t>
                      </a:r>
                      <a:endParaRPr lang="ru-RU" sz="20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Консоль (</a:t>
                      </a:r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CLI)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u="none" strike="noStrike">
                          <a:solidFill>
                            <a:schemeClr val="bg1"/>
                          </a:solidFill>
                          <a:effectLst/>
                        </a:rPr>
                        <a:t>Устаревший </a:t>
                      </a:r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GUI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solidFill>
                            <a:schemeClr val="bg1"/>
                          </a:solidFill>
                          <a:effectLst/>
                        </a:rPr>
                        <a:t>Современный</a:t>
                      </a:r>
                      <a:endParaRPr lang="ru-RU" sz="20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u="none" strike="noStrike">
                          <a:solidFill>
                            <a:schemeClr val="bg1"/>
                          </a:solidFill>
                          <a:effectLst/>
                        </a:rPr>
                        <a:t>Чистый, современный </a:t>
                      </a:r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Web-UI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841547"/>
                  </a:ext>
                </a:extLst>
              </a:tr>
              <a:tr h="10046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Предпросмотр</a:t>
                      </a:r>
                      <a:endParaRPr lang="ru-RU" sz="20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u="none" strike="noStrike">
                          <a:solidFill>
                            <a:schemeClr val="bg1"/>
                          </a:solidFill>
                          <a:effectLst/>
                        </a:rPr>
                        <a:t>Нет</a:t>
                      </a:r>
                      <a:endParaRPr lang="ru-RU" sz="20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u="none" strike="noStrike">
                          <a:solidFill>
                            <a:schemeClr val="bg1"/>
                          </a:solidFill>
                          <a:effectLst/>
                        </a:rPr>
                        <a:t>Отсутвует</a:t>
                      </a:r>
                      <a:endParaRPr lang="ru-RU" sz="20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solidFill>
                            <a:schemeClr val="bg1"/>
                          </a:solidFill>
                          <a:effectLst/>
                        </a:rPr>
                        <a:t>Только базовый вид списка или значков.</a:t>
                      </a:r>
                      <a:endParaRPr lang="ru-RU" sz="20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u="none" strike="noStrike">
                          <a:solidFill>
                            <a:schemeClr val="bg1"/>
                          </a:solidFill>
                          <a:effectLst/>
                        </a:rPr>
                        <a:t>Интерактивная таблица с выбором</a:t>
                      </a:r>
                      <a:endParaRPr lang="ru-RU" sz="20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498767"/>
                  </a:ext>
                </a:extLst>
              </a:tr>
              <a:tr h="67319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Отчетность</a:t>
                      </a:r>
                      <a:endParaRPr lang="ru-RU" sz="20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u="none" strike="noStrike">
                          <a:solidFill>
                            <a:schemeClr val="bg1"/>
                          </a:solidFill>
                          <a:effectLst/>
                        </a:rPr>
                        <a:t>Текстовый файл</a:t>
                      </a:r>
                      <a:endParaRPr lang="ru-RU" sz="20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u="none" strike="noStrike">
                          <a:solidFill>
                            <a:schemeClr val="bg1"/>
                          </a:solidFill>
                          <a:effectLst/>
                        </a:rPr>
                        <a:t>Нет</a:t>
                      </a:r>
                      <a:endParaRPr lang="ru-RU" sz="20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solidFill>
                            <a:schemeClr val="bg1"/>
                          </a:solidFill>
                          <a:effectLst/>
                        </a:rPr>
                        <a:t>Нет истории действий.</a:t>
                      </a:r>
                      <a:endParaRPr lang="ru-RU" sz="20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Графический </a:t>
                      </a:r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HTML-</a:t>
                      </a:r>
                      <a:r>
                        <a:rPr lang="ru-RU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отчет</a:t>
                      </a:r>
                      <a:endParaRPr lang="ru-RU" sz="2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74012"/>
                  </a:ext>
                </a:extLst>
              </a:tr>
              <a:tr h="10046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Гибкость</a:t>
                      </a:r>
                      <a:endParaRPr lang="ru-RU" sz="20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u="none" strike="noStrike">
                          <a:solidFill>
                            <a:schemeClr val="bg1"/>
                          </a:solidFill>
                          <a:effectLst/>
                        </a:rPr>
                        <a:t>Нужно менять код</a:t>
                      </a:r>
                      <a:endParaRPr lang="ru-RU" sz="20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u="none" strike="noStrike">
                          <a:solidFill>
                            <a:schemeClr val="bg1"/>
                          </a:solidFill>
                          <a:effectLst/>
                        </a:rPr>
                        <a:t>Жесткие настройки</a:t>
                      </a:r>
                      <a:endParaRPr lang="ru-RU" sz="20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solidFill>
                            <a:schemeClr val="bg1"/>
                          </a:solidFill>
                          <a:effectLst/>
                        </a:rPr>
                        <a:t>Ограничена системными фильтрами поиска.</a:t>
                      </a:r>
                      <a:endParaRPr lang="ru-RU" sz="20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u="none" strike="noStrike">
                          <a:solidFill>
                            <a:schemeClr val="bg1"/>
                          </a:solidFill>
                          <a:effectLst/>
                        </a:rPr>
                        <a:t>Кастомные правила через </a:t>
                      </a:r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UI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461604"/>
                  </a:ext>
                </a:extLst>
              </a:tr>
              <a:tr h="10046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Безопасность</a:t>
                      </a:r>
                      <a:endParaRPr lang="ru-RU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На свой страх и риск</a:t>
                      </a:r>
                      <a:endParaRPr lang="ru-RU" sz="2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На свой страх и риск</a:t>
                      </a:r>
                      <a:endParaRPr lang="ru-RU" sz="2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Есть риск случайно заменить файл с тем же именем</a:t>
                      </a:r>
                      <a:endParaRPr lang="ru-RU" sz="2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Встроенный механизм бэкапа</a:t>
                      </a:r>
                      <a:endParaRPr lang="ru-RU" sz="2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5369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/>
          <p:nvPr/>
        </p:nvSpPr>
        <p:spPr>
          <a:xfrm>
            <a:off x="571500" y="4171950"/>
            <a:ext cx="11049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57987" y="4524375"/>
            <a:ext cx="23682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Конфигурации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714375" y="4933950"/>
            <a:ext cx="225549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Интеграция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JSON-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словарей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для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гибкой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настройки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пользовательских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правил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без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вмешательства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в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код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.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3493907" y="2330053"/>
            <a:ext cx="23682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System Tray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3550294" y="2739628"/>
            <a:ext cx="225549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Создание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фонового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процесса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с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иконкой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для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незаметного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авто-управления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директориями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.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6329827" y="4524375"/>
            <a:ext cx="23682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Интеграция</a:t>
            </a:r>
            <a:r>
              <a:rPr lang="en-US" sz="2400" b="0" i="0" u="none" strike="noStrike" cap="none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 LLM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6386214" y="4933950"/>
            <a:ext cx="225549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Смысловая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классификация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документов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с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помощью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нейросетей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.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9165747" y="2330053"/>
            <a:ext cx="23682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Дедупликация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9222134" y="2739628"/>
            <a:ext cx="225549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Внедрение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алгоритмов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хэширования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(MD5/SHA-256)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для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поиска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и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зачистки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100%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идентичных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файлов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.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1727820" y="407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563740" y="407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7399659" y="407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10235579" y="407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71500" y="571500"/>
            <a:ext cx="116014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Перспективы</a:t>
            </a:r>
            <a:r>
              <a:rPr lang="en-US" sz="4000" b="0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 </a:t>
            </a:r>
            <a:r>
              <a:rPr lang="en-US" sz="4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развития</a:t>
            </a:r>
            <a:endParaRPr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1865326-6052-50DD-F40E-7272D464E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420" y="1353282"/>
            <a:ext cx="4301159" cy="41514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454</Words>
  <Application>Microsoft Office PowerPoint</Application>
  <PresentationFormat>Широкоэкранный</PresentationFormat>
  <Paragraphs>95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Inter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Матвей Казарезов</cp:lastModifiedBy>
  <cp:revision>4</cp:revision>
  <dcterms:modified xsi:type="dcterms:W3CDTF">2026-04-23T20:51:30Z</dcterms:modified>
</cp:coreProperties>
</file>