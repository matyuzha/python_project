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</p:sldIdLst>
  <p:sldSz cx="12192000" cy="6858000"/>
  <p:notesSz cx="6858000" cy="9144000"/>
  <p:embeddedFontLst>
    <p:embeddedFont>
      <p:font typeface="Inter" panose="020B0604020202020204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B7FA889-CB22-4FBB-A4BB-F2C16018C792}">
  <a:tblStyle styleId="{BB7FA889-CB22-4FBB-A4BB-F2C16018C79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2178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368377" y="2542603"/>
            <a:ext cx="9455244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0" i="0" u="none" strike="noStrike" cap="none" dirty="0" err="1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 SemiBold"/>
              </a:rPr>
              <a:t>Система</a:t>
            </a:r>
            <a:r>
              <a:rPr lang="en-US" sz="4800" b="0" i="0" u="none" strike="noStrike" cap="none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 SemiBold"/>
              </a:rPr>
              <a:t> </a:t>
            </a:r>
            <a:r>
              <a:rPr lang="en-US" sz="4800" b="0" i="0" u="none" strike="noStrike" cap="none" dirty="0" err="1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 SemiBold"/>
              </a:rPr>
              <a:t>управления</a:t>
            </a:r>
            <a:r>
              <a:rPr lang="en-US" sz="4800" b="0" i="0" u="none" strike="noStrike" cap="none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 SemiBold"/>
              </a:rPr>
              <a:t> </a:t>
            </a:r>
            <a:r>
              <a:rPr lang="en-US" sz="4800" b="0" i="0" u="none" strike="noStrike" cap="none" dirty="0" err="1">
                <a:solidFill>
                  <a:srgbClr val="38BDF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 SemiBold"/>
              </a:rPr>
              <a:t>файлами</a:t>
            </a:r>
            <a:r>
              <a:rPr lang="ru-RU" sz="4800" dirty="0">
                <a:solidFill>
                  <a:srgbClr val="38BDF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 SemiBold"/>
              </a:rPr>
              <a:t>: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 SemiBold"/>
              </a:rPr>
              <a:t>DaemonFS</a:t>
            </a:r>
            <a:endParaRPr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D136243-20B1-9C68-8158-BA769335273B}"/>
              </a:ext>
            </a:extLst>
          </p:cNvPr>
          <p:cNvSpPr txBox="1">
            <a:spLocks/>
          </p:cNvSpPr>
          <p:nvPr/>
        </p:nvSpPr>
        <p:spPr>
          <a:xfrm>
            <a:off x="1560179" y="261719"/>
            <a:ext cx="9071640" cy="114438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2000" b="1" dirty="0">
                <a:solidFill>
                  <a:schemeClr val="bg1"/>
                </a:solidFill>
              </a:rPr>
              <a:t>Государственное бюджетное профессиональное образовательное учреждение Московской области „Физико-технический колледж“</a:t>
            </a:r>
            <a:br>
              <a:rPr lang="ru-RU" sz="2000" b="1" dirty="0">
                <a:solidFill>
                  <a:schemeClr val="bg1"/>
                </a:solidFill>
              </a:rPr>
            </a:br>
            <a:r>
              <a:rPr lang="ru-RU" sz="2000" b="1" dirty="0">
                <a:solidFill>
                  <a:schemeClr val="bg1"/>
                </a:solidFill>
              </a:rPr>
              <a:t>(ГБПОУ МО „Физтех-колледж“)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C59C82-FF52-7AFC-8C84-EF003BE7A059}"/>
              </a:ext>
            </a:extLst>
          </p:cNvPr>
          <p:cNvSpPr txBox="1"/>
          <p:nvPr/>
        </p:nvSpPr>
        <p:spPr>
          <a:xfrm>
            <a:off x="8197731" y="5156428"/>
            <a:ext cx="3741227" cy="1030175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ru-RU" sz="2000" b="0" i="0" u="none" strike="noStrike" kern="1200" cap="none" dirty="0">
                <a:ln>
                  <a:noFill/>
                </a:ln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Выполнили студент</a:t>
            </a:r>
            <a:r>
              <a:rPr lang="ru-RU" sz="2000" kern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ы</a:t>
            </a:r>
            <a:r>
              <a:rPr lang="ru-RU" sz="2000" b="0" i="0" u="none" strike="noStrike" kern="1200" cap="none" dirty="0">
                <a:ln>
                  <a:noFill/>
                </a:ln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000" kern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ru-RU" sz="2000" b="0" i="0" u="none" strike="noStrike" kern="1200" cap="none" dirty="0">
                <a:ln>
                  <a:noFill/>
                </a:ln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курса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ru-RU" sz="2000" b="0" i="0" u="none" strike="noStrike" kern="1200" cap="none" dirty="0">
                <a:ln>
                  <a:noFill/>
                </a:ln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Казарезов Матвей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ru-RU" sz="2000" kern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Алябьев Денис </a:t>
            </a:r>
            <a:r>
              <a:rPr lang="ru-RU" sz="2000" b="0" i="0" u="none" strike="noStrike" kern="1200" cap="none" dirty="0">
                <a:ln>
                  <a:noFill/>
                </a:ln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группы ИСП-42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53225" y="1811244"/>
            <a:ext cx="5286375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62750" y="1820769"/>
            <a:ext cx="5267325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767661" y="1518184"/>
            <a:ext cx="5965165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 err="1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Беспорядочное</a:t>
            </a:r>
            <a:r>
              <a:rPr lang="en-US" sz="2000" b="1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000" b="1" i="0" u="none" strike="noStrike" cap="none" dirty="0" err="1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накопление</a:t>
            </a:r>
            <a:r>
              <a:rPr lang="en-US" sz="2000" b="1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Постоянные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загрузки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медиа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и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документов</a:t>
            </a:r>
            <a:r>
              <a:rPr lang="en-US" sz="20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“</a:t>
            </a:r>
            <a:r>
              <a:rPr lang="ru-RU" sz="20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убивают</a:t>
            </a:r>
            <a:r>
              <a:rPr lang="en-US" sz="20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”</a:t>
            </a:r>
            <a:r>
              <a:rPr lang="ru-RU" sz="20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диск</a:t>
            </a:r>
            <a:endParaRPr sz="2000" dirty="0"/>
          </a:p>
        </p:txBody>
      </p:sp>
      <p:sp>
        <p:nvSpPr>
          <p:cNvPr id="98" name="Google Shape;98;p14"/>
          <p:cNvSpPr txBox="1"/>
          <p:nvPr/>
        </p:nvSpPr>
        <p:spPr>
          <a:xfrm>
            <a:off x="762448" y="3059668"/>
            <a:ext cx="5970378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 err="1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Риск</a:t>
            </a:r>
            <a:r>
              <a:rPr lang="en-US" sz="2000" b="1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000" b="1" i="0" u="none" strike="noStrike" cap="none" dirty="0" err="1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потери</a:t>
            </a:r>
            <a:r>
              <a:rPr lang="en-US" sz="2000" b="1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000" b="1" i="0" u="none" strike="noStrike" cap="none" dirty="0" err="1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данных</a:t>
            </a:r>
            <a:r>
              <a:rPr lang="en-US" sz="2000" b="1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Ручная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сортировка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человеческим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фактором</a:t>
            </a:r>
            <a:endParaRPr sz="2000" dirty="0"/>
          </a:p>
        </p:txBody>
      </p:sp>
      <p:sp>
        <p:nvSpPr>
          <p:cNvPr id="99" name="Google Shape;99;p14"/>
          <p:cNvSpPr txBox="1"/>
          <p:nvPr/>
        </p:nvSpPr>
        <p:spPr>
          <a:xfrm>
            <a:off x="767662" y="4601152"/>
            <a:ext cx="572803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 err="1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Затраты</a:t>
            </a:r>
            <a:r>
              <a:rPr lang="en-US" sz="2000" b="1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000" b="1" i="0" u="none" strike="noStrike" cap="none" dirty="0" err="1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ресурсов</a:t>
            </a:r>
            <a:r>
              <a:rPr lang="en-US" sz="2000" b="1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ОС: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Дубликаты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и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невостребованные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тяжелые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файлы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“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засоряют</a:t>
            </a:r>
            <a:r>
              <a:rPr lang="en-US" sz="20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”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память</a:t>
            </a:r>
            <a:endParaRPr sz="2000" dirty="0"/>
          </a:p>
        </p:txBody>
      </p:sp>
      <p:sp>
        <p:nvSpPr>
          <p:cNvPr id="100" name="Google Shape;100;p14"/>
          <p:cNvSpPr txBox="1"/>
          <p:nvPr/>
        </p:nvSpPr>
        <p:spPr>
          <a:xfrm>
            <a:off x="358355" y="1751801"/>
            <a:ext cx="1905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sz="2000" dirty="0"/>
          </a:p>
        </p:txBody>
      </p:sp>
      <p:sp>
        <p:nvSpPr>
          <p:cNvPr id="101" name="Google Shape;101;p14"/>
          <p:cNvSpPr txBox="1"/>
          <p:nvPr/>
        </p:nvSpPr>
        <p:spPr>
          <a:xfrm>
            <a:off x="358355" y="3368738"/>
            <a:ext cx="1905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sz="2000" dirty="0"/>
          </a:p>
        </p:txBody>
      </p:sp>
      <p:sp>
        <p:nvSpPr>
          <p:cNvPr id="102" name="Google Shape;102;p14"/>
          <p:cNvSpPr txBox="1"/>
          <p:nvPr/>
        </p:nvSpPr>
        <p:spPr>
          <a:xfrm>
            <a:off x="402566" y="5093594"/>
            <a:ext cx="1905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sz="2000" dirty="0"/>
          </a:p>
        </p:txBody>
      </p:sp>
      <p:sp>
        <p:nvSpPr>
          <p:cNvPr id="103" name="Google Shape;103;p14"/>
          <p:cNvSpPr txBox="1"/>
          <p:nvPr/>
        </p:nvSpPr>
        <p:spPr>
          <a:xfrm>
            <a:off x="497816" y="482426"/>
            <a:ext cx="7990576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 dirty="0" err="1">
                <a:solidFill>
                  <a:srgbClr val="38BDF8"/>
                </a:solidFill>
                <a:latin typeface="Inter" panose="020B0604020202020204" charset="0"/>
                <a:ea typeface="Inter" panose="020B0604020202020204" charset="0"/>
                <a:cs typeface="Poppins SemiBold"/>
                <a:sym typeface="Poppins SemiBold"/>
              </a:rPr>
              <a:t>Проблема</a:t>
            </a:r>
            <a:r>
              <a:rPr lang="en-US" sz="4000" b="0" i="0" u="none" strike="noStrike" cap="none" dirty="0">
                <a:solidFill>
                  <a:srgbClr val="38BDF8"/>
                </a:solidFill>
                <a:latin typeface="Inter" panose="020B0604020202020204" charset="0"/>
                <a:ea typeface="Inter" panose="020B0604020202020204" charset="0"/>
                <a:cs typeface="Poppins SemiBold"/>
                <a:sym typeface="Poppins SemiBold"/>
              </a:rPr>
              <a:t> </a:t>
            </a:r>
            <a:r>
              <a:rPr lang="en-US" sz="4000" b="0" i="0" u="none" strike="noStrike" cap="none" dirty="0" err="1">
                <a:solidFill>
                  <a:srgbClr val="38BDF8"/>
                </a:solidFill>
                <a:latin typeface="Inter" panose="020B0604020202020204" charset="0"/>
                <a:ea typeface="Inter" panose="020B0604020202020204" charset="0"/>
                <a:cs typeface="Poppins SemiBold"/>
                <a:sym typeface="Poppins SemiBold"/>
              </a:rPr>
              <a:t>цифрового</a:t>
            </a:r>
            <a:r>
              <a:rPr lang="en-US" sz="4000" b="0" i="0" u="none" strike="noStrike" cap="none" dirty="0">
                <a:solidFill>
                  <a:srgbClr val="38BDF8"/>
                </a:solidFill>
                <a:latin typeface="Inter" panose="020B0604020202020204" charset="0"/>
                <a:ea typeface="Inter" panose="020B0604020202020204" charset="0"/>
                <a:cs typeface="Poppins SemiBold"/>
                <a:sym typeface="Poppins SemiBold"/>
              </a:rPr>
              <a:t> </a:t>
            </a:r>
            <a:r>
              <a:rPr lang="en-US" sz="4000" b="0" i="0" u="none" strike="noStrike" cap="none" dirty="0" err="1">
                <a:solidFill>
                  <a:srgbClr val="38BDF8"/>
                </a:solidFill>
                <a:latin typeface="Inter" panose="020B0604020202020204" charset="0"/>
                <a:ea typeface="Inter" panose="020B0604020202020204" charset="0"/>
                <a:cs typeface="Poppins SemiBold"/>
                <a:sym typeface="Poppins SemiBold"/>
              </a:rPr>
              <a:t>хаоса</a:t>
            </a:r>
            <a:endParaRPr sz="4000" dirty="0">
              <a:latin typeface="Inter" panose="020B0604020202020204" charset="0"/>
              <a:ea typeface="Inter" panose="020B06040202020202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38350"/>
            <a:ext cx="3429000" cy="3733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81500" y="2038350"/>
            <a:ext cx="3429000" cy="3733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91500" y="2038350"/>
            <a:ext cx="3429000" cy="3733651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1088458" y="3283862"/>
            <a:ext cx="2395083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 dirty="0" err="1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 SemiBold"/>
              </a:rPr>
              <a:t>Безопасность</a:t>
            </a:r>
            <a:endParaRPr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3" name="Google Shape;113;p15"/>
          <p:cNvSpPr txBox="1"/>
          <p:nvPr/>
        </p:nvSpPr>
        <p:spPr>
          <a:xfrm>
            <a:off x="866775" y="3867150"/>
            <a:ext cx="283845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Интегрирован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механизм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автоматического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создания</a:t>
            </a:r>
            <a:r>
              <a:rPr lang="en-US" sz="20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бэкапов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 </a:t>
            </a:r>
            <a:endParaRPr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4" name="Google Shape;114;p15"/>
          <p:cNvSpPr txBox="1"/>
          <p:nvPr/>
        </p:nvSpPr>
        <p:spPr>
          <a:xfrm>
            <a:off x="5169390" y="3283861"/>
            <a:ext cx="1853218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 dirty="0" err="1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 SemiBold"/>
              </a:rPr>
              <a:t>Аналитика</a:t>
            </a:r>
            <a:endParaRPr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5" name="Google Shape;115;p15"/>
          <p:cNvSpPr txBox="1"/>
          <p:nvPr/>
        </p:nvSpPr>
        <p:spPr>
          <a:xfrm>
            <a:off x="4676775" y="3867150"/>
            <a:ext cx="283845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Детальный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предпросмотр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файлов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 и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финальны</a:t>
            </a:r>
            <a:r>
              <a:rPr lang="ru-RU" sz="20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й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 HTML-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отчет</a:t>
            </a:r>
            <a:r>
              <a:rPr lang="en-US" sz="20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.</a:t>
            </a:r>
            <a:endParaRPr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9037808" y="3283861"/>
            <a:ext cx="1736381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 dirty="0" err="1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 SemiBold"/>
              </a:rPr>
              <a:t>Гибкость</a:t>
            </a:r>
            <a:endParaRPr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7" name="Google Shape;117;p15"/>
          <p:cNvSpPr txBox="1"/>
          <p:nvPr/>
        </p:nvSpPr>
        <p:spPr>
          <a:xfrm>
            <a:off x="8399880" y="3867150"/>
            <a:ext cx="3012236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Поддержка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распределения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по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расширениям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,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дате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или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 </a:t>
            </a:r>
            <a:r>
              <a:rPr lang="ru-RU" sz="2000" b="0" i="0" u="none" strike="noStrike" cap="none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весу</a:t>
            </a:r>
            <a:endParaRPr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18" name="Google Shape;118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028825" y="2476500"/>
            <a:ext cx="514350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05487" y="2476500"/>
            <a:ext cx="581025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615487" y="2476500"/>
            <a:ext cx="581025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"/>
          <p:cNvSpPr txBox="1"/>
          <p:nvPr/>
        </p:nvSpPr>
        <p:spPr>
          <a:xfrm>
            <a:off x="571500" y="571500"/>
            <a:ext cx="1160145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 dirty="0" err="1">
                <a:solidFill>
                  <a:srgbClr val="38BDF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 SemiBold"/>
              </a:rPr>
              <a:t>Философия</a:t>
            </a:r>
            <a:r>
              <a:rPr lang="en-US" sz="4000" b="0" i="0" u="none" strike="noStrike" cap="none" dirty="0">
                <a:solidFill>
                  <a:srgbClr val="38BDF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 SemiBold"/>
              </a:rPr>
              <a:t> </a:t>
            </a:r>
            <a:r>
              <a:rPr lang="en-US" sz="4000" b="0" i="0" u="none" strike="noStrike" cap="none" dirty="0" err="1">
                <a:solidFill>
                  <a:srgbClr val="38BDF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 SemiBold"/>
              </a:rPr>
              <a:t>решения</a:t>
            </a:r>
            <a:endParaRPr sz="4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 txBox="1"/>
          <p:nvPr/>
        </p:nvSpPr>
        <p:spPr>
          <a:xfrm>
            <a:off x="469960" y="2856383"/>
            <a:ext cx="5286375" cy="1731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0" b="1" i="0" u="none" strike="noStrike" cap="none" dirty="0">
                <a:solidFill>
                  <a:srgbClr val="38BDF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"/>
              </a:rPr>
              <a:t>4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8" name="Google Shape;128;p16"/>
          <p:cNvSpPr txBox="1"/>
          <p:nvPr/>
        </p:nvSpPr>
        <p:spPr>
          <a:xfrm>
            <a:off x="571500" y="4433738"/>
            <a:ext cx="528637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 err="1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Ключевых</a:t>
            </a:r>
            <a:r>
              <a:rPr lang="en-US" sz="2000" b="1" i="0" u="none" strike="noStrike" cap="none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 </a:t>
            </a:r>
            <a:r>
              <a:rPr lang="en-US" sz="2000" b="1" i="0" u="none" strike="noStrike" cap="none" dirty="0" err="1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инструмента</a:t>
            </a:r>
            <a:endParaRPr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9" name="Google Shape;129;p16"/>
          <p:cNvSpPr txBox="1"/>
          <p:nvPr/>
        </p:nvSpPr>
        <p:spPr>
          <a:xfrm>
            <a:off x="6667500" y="1714348"/>
            <a:ext cx="5505450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 err="1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Streamlit</a:t>
            </a:r>
            <a:r>
              <a:rPr lang="en-US" sz="2000" b="1" i="0" u="none" strike="noStrike" cap="none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: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Фреймворк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для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создания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реактивного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веб-интерфейса</a:t>
            </a:r>
            <a:r>
              <a:rPr lang="en-US" sz="20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.</a:t>
            </a:r>
            <a:endParaRPr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0" name="Google Shape;130;p16"/>
          <p:cNvSpPr txBox="1"/>
          <p:nvPr/>
        </p:nvSpPr>
        <p:spPr>
          <a:xfrm>
            <a:off x="6667500" y="3037641"/>
            <a:ext cx="5505449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Pandas &amp; Plotly: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Структурирование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метаданных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 в </a:t>
            </a:r>
            <a:r>
              <a:rPr lang="ru-RU" sz="20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таблицы</a:t>
            </a:r>
            <a:endParaRPr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1" name="Google Shape;131;p16"/>
          <p:cNvSpPr txBox="1"/>
          <p:nvPr/>
        </p:nvSpPr>
        <p:spPr>
          <a:xfrm>
            <a:off x="6686550" y="4304617"/>
            <a:ext cx="4953000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 err="1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Pathlib</a:t>
            </a:r>
            <a:r>
              <a:rPr lang="en-US" sz="2000" b="1" i="0" u="none" strike="noStrike" cap="none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 &amp; </a:t>
            </a:r>
            <a:r>
              <a:rPr lang="en-US" sz="2000" b="1" i="0" u="none" strike="noStrike" cap="none" dirty="0" err="1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Shutil</a:t>
            </a:r>
            <a:r>
              <a:rPr lang="en-US" sz="2000" b="1" i="0" u="none" strike="noStrike" cap="none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: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 </a:t>
            </a:r>
            <a:r>
              <a:rPr lang="ru-RU" sz="20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В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ыполнение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файловых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операций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.</a:t>
            </a:r>
            <a:endParaRPr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2" name="Google Shape;132;p16"/>
          <p:cNvSpPr txBox="1"/>
          <p:nvPr/>
        </p:nvSpPr>
        <p:spPr>
          <a:xfrm>
            <a:off x="6686550" y="5627910"/>
            <a:ext cx="49530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 err="1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Zipfile</a:t>
            </a:r>
            <a:r>
              <a:rPr lang="en-US" sz="2000" b="1" i="0" u="none" strike="noStrike" cap="none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: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Создание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резервных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копий</a:t>
            </a:r>
            <a:endParaRPr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3" name="Google Shape;133;p16"/>
          <p:cNvSpPr txBox="1"/>
          <p:nvPr/>
        </p:nvSpPr>
        <p:spPr>
          <a:xfrm>
            <a:off x="6238875" y="1920330"/>
            <a:ext cx="1905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38BDF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→</a:t>
            </a:r>
            <a:endParaRPr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4" name="Google Shape;134;p16"/>
          <p:cNvSpPr txBox="1"/>
          <p:nvPr/>
        </p:nvSpPr>
        <p:spPr>
          <a:xfrm>
            <a:off x="6232585" y="3245458"/>
            <a:ext cx="1905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38BDF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→</a:t>
            </a:r>
            <a:endParaRPr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5" name="Google Shape;135;p16"/>
          <p:cNvSpPr txBox="1"/>
          <p:nvPr/>
        </p:nvSpPr>
        <p:spPr>
          <a:xfrm>
            <a:off x="6238875" y="4433738"/>
            <a:ext cx="1905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38BDF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→</a:t>
            </a:r>
            <a:endParaRPr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6" name="Google Shape;136;p16"/>
          <p:cNvSpPr txBox="1"/>
          <p:nvPr/>
        </p:nvSpPr>
        <p:spPr>
          <a:xfrm>
            <a:off x="6238875" y="5627911"/>
            <a:ext cx="1905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38BDF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→</a:t>
            </a:r>
            <a:endParaRPr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7" name="Google Shape;137;p16"/>
          <p:cNvSpPr txBox="1"/>
          <p:nvPr/>
        </p:nvSpPr>
        <p:spPr>
          <a:xfrm>
            <a:off x="571500" y="571500"/>
            <a:ext cx="1160145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>
                <a:solidFill>
                  <a:srgbClr val="38BDF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 SemiBold"/>
              </a:rPr>
              <a:t>Технологический стек</a:t>
            </a:r>
            <a:endParaRPr sz="4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7"/>
          <p:cNvSpPr txBox="1"/>
          <p:nvPr/>
        </p:nvSpPr>
        <p:spPr>
          <a:xfrm>
            <a:off x="571500" y="571500"/>
            <a:ext cx="5550693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 dirty="0" err="1">
                <a:solidFill>
                  <a:srgbClr val="38BDF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 SemiBold"/>
              </a:rPr>
              <a:t>Архитектура</a:t>
            </a:r>
            <a:r>
              <a:rPr lang="en-US" sz="4000" b="0" i="0" u="none" strike="noStrike" cap="none" dirty="0">
                <a:solidFill>
                  <a:srgbClr val="38BDF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 SemiBold"/>
              </a:rPr>
              <a:t> </a:t>
            </a:r>
            <a:r>
              <a:rPr lang="en-US" sz="4000" b="0" i="0" u="none" strike="noStrike" cap="none" dirty="0" err="1">
                <a:solidFill>
                  <a:srgbClr val="38BDF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 SemiBold"/>
              </a:rPr>
              <a:t>системы</a:t>
            </a:r>
            <a:endParaRPr sz="4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44" name="Google Shape;144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0"/>
            <a:ext cx="58578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7"/>
          <p:cNvSpPr txBox="1"/>
          <p:nvPr/>
        </p:nvSpPr>
        <p:spPr>
          <a:xfrm>
            <a:off x="571499" y="1594009"/>
            <a:ext cx="5674025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Presentation Layer (</a:t>
            </a:r>
            <a:r>
              <a:rPr lang="en-US" sz="2000" b="1" i="0" u="none" strike="noStrike" cap="none" dirty="0" err="1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Слой</a:t>
            </a:r>
            <a:r>
              <a:rPr lang="en-US" sz="2000" b="1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000" b="1" i="0" u="none" strike="noStrike" cap="none" dirty="0" err="1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интерфейса</a:t>
            </a:r>
            <a:r>
              <a:rPr lang="en-US" sz="2000" b="1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):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ru-RU" sz="20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П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рием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ввода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и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производительност</a:t>
            </a:r>
            <a:r>
              <a:rPr lang="ru-RU" sz="20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ь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2000" dirty="0"/>
          </a:p>
        </p:txBody>
      </p:sp>
      <p:sp>
        <p:nvSpPr>
          <p:cNvPr id="146" name="Google Shape;146;p17"/>
          <p:cNvSpPr txBox="1"/>
          <p:nvPr/>
        </p:nvSpPr>
        <p:spPr>
          <a:xfrm>
            <a:off x="571499" y="3141345"/>
            <a:ext cx="5524500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Domain Layer: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Здесь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работают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классификатор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форматов</a:t>
            </a:r>
            <a:r>
              <a:rPr lang="ru-RU" sz="20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2000" dirty="0"/>
          </a:p>
        </p:txBody>
      </p:sp>
      <p:sp>
        <p:nvSpPr>
          <p:cNvPr id="147" name="Google Shape;147;p17"/>
          <p:cNvSpPr txBox="1"/>
          <p:nvPr/>
        </p:nvSpPr>
        <p:spPr>
          <a:xfrm>
            <a:off x="545305" y="4688681"/>
            <a:ext cx="5550694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System </a:t>
            </a:r>
            <a:r>
              <a:rPr lang="en-US" sz="2000" b="1" i="0" u="none" strike="noStrike" cap="none" dirty="0" err="1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Layer: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Выполняет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безопасное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перемещение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данных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(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shutil.move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) и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контролирует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права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доступа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8"/>
          <p:cNvSpPr/>
          <p:nvPr/>
        </p:nvSpPr>
        <p:spPr>
          <a:xfrm>
            <a:off x="571500" y="2137469"/>
            <a:ext cx="11049000" cy="3535560"/>
          </a:xfrm>
          <a:prstGeom prst="roundRect">
            <a:avLst>
              <a:gd name="adj" fmla="val 0"/>
            </a:avLst>
          </a:prstGeom>
          <a:solidFill>
            <a:srgbClr val="0F172A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4" name="Google Shape;154;p18"/>
          <p:cNvGraphicFramePr/>
          <p:nvPr>
            <p:extLst>
              <p:ext uri="{D42A27DB-BD31-4B8C-83A1-F6EECF244321}">
                <p14:modId xmlns:p14="http://schemas.microsoft.com/office/powerpoint/2010/main" val="3854167554"/>
              </p:ext>
            </p:extLst>
          </p:nvPr>
        </p:nvGraphicFramePr>
        <p:xfrm>
          <a:off x="571500" y="1524807"/>
          <a:ext cx="11049000" cy="4951385"/>
        </p:xfrm>
        <a:graphic>
          <a:graphicData uri="http://schemas.openxmlformats.org/drawingml/2006/table">
            <a:tbl>
              <a:tblPr firstRow="1" bandRow="1">
                <a:noFill/>
                <a:tableStyleId>{BB7FA889-CB22-4FBB-A4BB-F2C16018C792}</a:tableStyleId>
              </a:tblPr>
              <a:tblGrid>
                <a:gridCol w="2187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4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7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7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i="0" u="none" strike="noStrike" cap="none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Poppins SemiBold"/>
                        </a:rPr>
                        <a:t>Категория</a:t>
                      </a:r>
                      <a:endParaRPr sz="2000" b="1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i="0" u="none" strike="noStrike" cap="none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Poppins SemiBold"/>
                        </a:rPr>
                        <a:t>Расширения</a:t>
                      </a:r>
                      <a:endParaRPr sz="2000" b="1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i="0" u="none" strike="noStrike" cap="none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Poppins SemiBold"/>
                        </a:rPr>
                        <a:t>Типовой</a:t>
                      </a:r>
                      <a:r>
                        <a:rPr lang="en-US" sz="2000" b="1" i="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Poppins SemiBold"/>
                        </a:rPr>
                        <a:t> </a:t>
                      </a:r>
                      <a:r>
                        <a:rPr lang="en-US" sz="2000" b="1" i="0" u="none" strike="noStrike" cap="none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Poppins SemiBold"/>
                        </a:rPr>
                        <a:t>контент</a:t>
                      </a:r>
                      <a:endParaRPr sz="2000" b="1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8B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069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i="0" u="none" strike="noStrike" cap="none" dirty="0" err="1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Изображения</a:t>
                      </a:r>
                      <a:endParaRPr sz="2000"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cap="none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.jpg, .</a:t>
                      </a:r>
                      <a:r>
                        <a:rPr lang="en-US" sz="2000" b="0" i="0" u="none" strike="noStrike" cap="none" dirty="0" err="1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png</a:t>
                      </a:r>
                      <a:r>
                        <a:rPr lang="en-US" sz="2000" b="0" i="0" u="none" strike="noStrike" cap="none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, .</a:t>
                      </a:r>
                      <a:r>
                        <a:rPr lang="en-US" sz="2000" b="0" i="0" u="none" strike="noStrike" cap="none" dirty="0" err="1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svg</a:t>
                      </a:r>
                      <a:r>
                        <a:rPr lang="en-US" sz="2000" b="0" i="0" u="none" strike="noStrike" cap="none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, .</a:t>
                      </a:r>
                      <a:r>
                        <a:rPr lang="en-US" sz="2000" b="0" i="0" u="none" strike="noStrike" cap="none" dirty="0" err="1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webp</a:t>
                      </a:r>
                      <a:endParaRPr sz="2000"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cap="none" dirty="0" err="1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Векторная</a:t>
                      </a:r>
                      <a:r>
                        <a:rPr lang="en-US" sz="2000" b="0" i="0" u="none" strike="noStrike" cap="none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2000" b="0" i="0" u="none" strike="noStrike" cap="none" dirty="0" err="1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графика</a:t>
                      </a:r>
                      <a:r>
                        <a:rPr lang="en-US" sz="2000" b="0" i="0" u="none" strike="noStrike" cap="none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, </a:t>
                      </a:r>
                      <a:r>
                        <a:rPr lang="en-US" sz="2000" b="0" i="0" u="none" strike="noStrike" cap="none" dirty="0" err="1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фотографии</a:t>
                      </a:r>
                      <a:r>
                        <a:rPr lang="en-US" sz="2000" b="0" i="0" u="none" strike="noStrike" cap="none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, </a:t>
                      </a:r>
                      <a:r>
                        <a:rPr lang="en-US" sz="2000" b="0" i="0" u="none" strike="noStrike" cap="none" dirty="0" err="1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иконки</a:t>
                      </a:r>
                      <a:endParaRPr sz="2000"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31342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i="0" u="none" strike="noStrike" cap="none" dirty="0" err="1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Документы</a:t>
                      </a:r>
                      <a:endParaRPr sz="2000"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.pdf, .docx, .xlsx, .csv</a:t>
                      </a:r>
                      <a:endParaRPr sz="200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cap="none" dirty="0" err="1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Текстовые</a:t>
                      </a:r>
                      <a:r>
                        <a:rPr lang="en-US" sz="2000" b="0" i="0" u="none" strike="noStrike" cap="none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2000" b="0" i="0" u="none" strike="noStrike" cap="none" dirty="0" err="1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отчеты</a:t>
                      </a:r>
                      <a:r>
                        <a:rPr lang="en-US" sz="2000" b="0" i="0" u="none" strike="noStrike" cap="none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, </a:t>
                      </a:r>
                      <a:r>
                        <a:rPr lang="en-US" sz="2000" b="0" i="0" u="none" strike="noStrike" cap="none" dirty="0" err="1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таблицы</a:t>
                      </a:r>
                      <a:r>
                        <a:rPr lang="en-US" sz="2000" b="0" i="0" u="none" strike="noStrike" cap="none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, </a:t>
                      </a:r>
                      <a:r>
                        <a:rPr lang="en-US" sz="2000" b="0" i="0" u="none" strike="noStrike" cap="none" dirty="0" err="1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электронные</a:t>
                      </a:r>
                      <a:r>
                        <a:rPr lang="en-US" sz="2000" b="0" i="0" u="none" strike="noStrike" cap="none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2000" b="0" i="0" u="none" strike="noStrike" cap="none" dirty="0" err="1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книги</a:t>
                      </a:r>
                      <a:endParaRPr sz="2000"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397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i="0" u="none" strike="noStrike" cap="none" dirty="0" err="1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Исходный</a:t>
                      </a:r>
                      <a:r>
                        <a:rPr lang="en-US" sz="2000" b="1" i="0" u="none" strike="noStrike" cap="none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2000" b="1" i="0" u="none" strike="noStrike" cap="none" dirty="0" err="1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код</a:t>
                      </a:r>
                      <a:endParaRPr sz="2000"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.py, .js, .html, .json</a:t>
                      </a:r>
                      <a:endParaRPr sz="200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cap="none" dirty="0" err="1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Скрипты</a:t>
                      </a:r>
                      <a:r>
                        <a:rPr lang="en-US" sz="2000" b="0" i="0" u="none" strike="noStrike" cap="none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, </a:t>
                      </a:r>
                      <a:r>
                        <a:rPr lang="en-US" sz="2000" b="0" i="0" u="none" strike="noStrike" cap="none" dirty="0" err="1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дампы</a:t>
                      </a:r>
                      <a:r>
                        <a:rPr lang="en-US" sz="2000" b="0" i="0" u="none" strike="noStrike" cap="none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БД, </a:t>
                      </a:r>
                      <a:r>
                        <a:rPr lang="en-US" sz="2000" b="0" i="0" u="none" strike="noStrike" cap="none" dirty="0" err="1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конфигурационные</a:t>
                      </a:r>
                      <a:r>
                        <a:rPr lang="en-US" sz="2000" b="0" i="0" u="none" strike="noStrike" cap="none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2000" b="0" i="0" u="none" strike="noStrike" cap="none" dirty="0" err="1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файлы</a:t>
                      </a:r>
                      <a:endParaRPr sz="2000"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88282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Архивы</a:t>
                      </a:r>
                      <a:endParaRPr sz="200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.zip, .rar, .7z, .tar</a:t>
                      </a:r>
                      <a:endParaRPr sz="200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cap="none" dirty="0" err="1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Инсталляторы</a:t>
                      </a:r>
                      <a:r>
                        <a:rPr lang="en-US" sz="2000" b="0" i="0" u="none" strike="noStrike" cap="none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, </a:t>
                      </a:r>
                      <a:r>
                        <a:rPr lang="en-US" sz="2000" b="0" i="0" u="none" strike="noStrike" cap="none" dirty="0" err="1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резервные</a:t>
                      </a:r>
                      <a:r>
                        <a:rPr lang="en-US" sz="2000" b="0" i="0" u="none" strike="noStrike" cap="none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2000" b="0" i="0" u="none" strike="noStrike" cap="none" dirty="0" err="1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копии</a:t>
                      </a:r>
                      <a:r>
                        <a:rPr lang="en-US" sz="2000" b="0" i="0" u="none" strike="noStrike" cap="none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, </a:t>
                      </a:r>
                      <a:r>
                        <a:rPr lang="en-US" sz="2000" b="0" i="0" u="none" strike="noStrike" cap="none" dirty="0" err="1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наборы</a:t>
                      </a:r>
                      <a:r>
                        <a:rPr lang="en-US" sz="2000" b="0" i="0" u="none" strike="noStrike" cap="none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2000" b="0" i="0" u="none" strike="noStrike" cap="none" dirty="0" err="1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данных</a:t>
                      </a:r>
                      <a:endParaRPr sz="2000"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7" name="Google Shape;167;p18"/>
          <p:cNvSpPr txBox="1"/>
          <p:nvPr/>
        </p:nvSpPr>
        <p:spPr>
          <a:xfrm>
            <a:off x="571500" y="571500"/>
            <a:ext cx="1160145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 dirty="0" err="1">
                <a:solidFill>
                  <a:srgbClr val="38BDF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 SemiBold"/>
              </a:rPr>
              <a:t>Классификация</a:t>
            </a:r>
            <a:r>
              <a:rPr lang="en-US" sz="4000" b="0" i="0" u="none" strike="noStrike" cap="none" dirty="0">
                <a:solidFill>
                  <a:srgbClr val="38BDF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 SemiBold"/>
              </a:rPr>
              <a:t> </a:t>
            </a:r>
            <a:r>
              <a:rPr lang="en-US" sz="4000" b="0" i="0" u="none" strike="noStrike" cap="none" dirty="0" err="1">
                <a:solidFill>
                  <a:srgbClr val="38BDF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 SemiBold"/>
              </a:rPr>
              <a:t>данных</a:t>
            </a:r>
            <a:endParaRPr sz="4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47912"/>
            <a:ext cx="5334000" cy="3114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347912"/>
            <a:ext cx="5334000" cy="3114526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9"/>
          <p:cNvSpPr txBox="1"/>
          <p:nvPr/>
        </p:nvSpPr>
        <p:spPr>
          <a:xfrm>
            <a:off x="734378" y="2614612"/>
            <a:ext cx="4780597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 dirty="0" err="1">
                <a:solidFill>
                  <a:srgbClr val="38BDF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 SemiBold"/>
              </a:rPr>
              <a:t>Обработка</a:t>
            </a:r>
            <a:r>
              <a:rPr lang="en-US" sz="3000" b="0" i="0" u="none" strike="noStrike" cap="none" dirty="0">
                <a:solidFill>
                  <a:srgbClr val="38BDF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 SemiBold"/>
              </a:rPr>
              <a:t> </a:t>
            </a:r>
            <a:r>
              <a:rPr lang="en-US" sz="3000" b="0" i="0" u="none" strike="noStrike" cap="none" dirty="0" err="1">
                <a:solidFill>
                  <a:srgbClr val="38BDF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 SemiBold"/>
              </a:rPr>
              <a:t>коллизий</a:t>
            </a:r>
            <a:endParaRPr sz="3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6" name="Google Shape;176;p19"/>
          <p:cNvSpPr txBox="1"/>
          <p:nvPr/>
        </p:nvSpPr>
        <p:spPr>
          <a:xfrm>
            <a:off x="734378" y="3284472"/>
            <a:ext cx="5073176" cy="1969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>
                <a:solidFill>
                  <a:srgbClr val="CBD5E1"/>
                </a:solidFill>
                <a:latin typeface="Inter" panose="020B0604020202020204" charset="0"/>
                <a:ea typeface="Inter" panose="020B0604020202020204" charset="0"/>
                <a:cs typeface="Calibri" panose="020F0502020204030204" pitchFamily="34" charset="0"/>
                <a:sym typeface="Inter"/>
              </a:rPr>
              <a:t>Если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Inter" panose="020B0604020202020204" charset="0"/>
                <a:ea typeface="Inter" panose="020B0604020202020204" charset="0"/>
                <a:cs typeface="Calibri" panose="020F0502020204030204" pitchFamily="34" charset="0"/>
                <a:sym typeface="Inter"/>
              </a:rPr>
              <a:t> в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Inter" panose="020B0604020202020204" charset="0"/>
                <a:ea typeface="Inter" panose="020B0604020202020204" charset="0"/>
                <a:cs typeface="Calibri" panose="020F0502020204030204" pitchFamily="34" charset="0"/>
                <a:sym typeface="Inter"/>
              </a:rPr>
              <a:t>целевой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Inter" panose="020B0604020202020204" charset="0"/>
                <a:ea typeface="Inter" panose="020B0604020202020204" charset="0"/>
                <a:cs typeface="Calibri" panose="020F0502020204030204" pitchFamily="34" charset="0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Inter" panose="020B0604020202020204" charset="0"/>
                <a:ea typeface="Inter" panose="020B0604020202020204" charset="0"/>
                <a:cs typeface="Calibri" panose="020F0502020204030204" pitchFamily="34" charset="0"/>
                <a:sym typeface="Inter"/>
              </a:rPr>
              <a:t>папке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Inter" panose="020B0604020202020204" charset="0"/>
                <a:ea typeface="Inter" panose="020B0604020202020204" charset="0"/>
                <a:cs typeface="Calibri" panose="020F0502020204030204" pitchFamily="34" charset="0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Inter" panose="020B0604020202020204" charset="0"/>
                <a:ea typeface="Inter" panose="020B0604020202020204" charset="0"/>
                <a:cs typeface="Calibri" panose="020F0502020204030204" pitchFamily="34" charset="0"/>
                <a:sym typeface="Inter"/>
              </a:rPr>
              <a:t>уже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Inter" panose="020B0604020202020204" charset="0"/>
                <a:ea typeface="Inter" panose="020B0604020202020204" charset="0"/>
                <a:cs typeface="Calibri" panose="020F0502020204030204" pitchFamily="34" charset="0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Inter" panose="020B0604020202020204" charset="0"/>
                <a:ea typeface="Inter" panose="020B0604020202020204" charset="0"/>
                <a:cs typeface="Calibri" panose="020F0502020204030204" pitchFamily="34" charset="0"/>
                <a:sym typeface="Inter"/>
              </a:rPr>
              <a:t>присутствует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Inter" panose="020B0604020202020204" charset="0"/>
                <a:ea typeface="Inter" panose="020B0604020202020204" charset="0"/>
                <a:cs typeface="Calibri" panose="020F0502020204030204" pitchFamily="34" charset="0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Inter" panose="020B0604020202020204" charset="0"/>
                <a:ea typeface="Inter" panose="020B0604020202020204" charset="0"/>
                <a:cs typeface="Calibri" panose="020F0502020204030204" pitchFamily="34" charset="0"/>
                <a:sym typeface="Inter"/>
              </a:rPr>
              <a:t>файл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Inter" panose="020B0604020202020204" charset="0"/>
                <a:ea typeface="Inter" panose="020B0604020202020204" charset="0"/>
                <a:cs typeface="Calibri" panose="020F0502020204030204" pitchFamily="34" charset="0"/>
                <a:sym typeface="Inter"/>
              </a:rPr>
              <a:t> data.csv,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Inter" panose="020B0604020202020204" charset="0"/>
                <a:ea typeface="Inter" panose="020B0604020202020204" charset="0"/>
                <a:cs typeface="Calibri" panose="020F0502020204030204" pitchFamily="34" charset="0"/>
                <a:sym typeface="Inter"/>
              </a:rPr>
              <a:t>скрипт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Inter" panose="020B0604020202020204" charset="0"/>
                <a:ea typeface="Inter" panose="020B0604020202020204" charset="0"/>
                <a:cs typeface="Calibri" panose="020F0502020204030204" pitchFamily="34" charset="0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Inter" panose="020B0604020202020204" charset="0"/>
                <a:ea typeface="Inter" panose="020B0604020202020204" charset="0"/>
                <a:cs typeface="Calibri" panose="020F0502020204030204" pitchFamily="34" charset="0"/>
                <a:sym typeface="Inter"/>
              </a:rPr>
              <a:t>рекурсивно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Inter" panose="020B0604020202020204" charset="0"/>
                <a:ea typeface="Inter" panose="020B0604020202020204" charset="0"/>
                <a:cs typeface="Calibri" panose="020F0502020204030204" pitchFamily="34" charset="0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Inter" panose="020B0604020202020204" charset="0"/>
                <a:ea typeface="Inter" panose="020B0604020202020204" charset="0"/>
                <a:cs typeface="Calibri" panose="020F0502020204030204" pitchFamily="34" charset="0"/>
                <a:sym typeface="Inter"/>
              </a:rPr>
              <a:t>генерирует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Inter" panose="020B0604020202020204" charset="0"/>
                <a:ea typeface="Inter" panose="020B0604020202020204" charset="0"/>
                <a:cs typeface="Calibri" panose="020F0502020204030204" pitchFamily="34" charset="0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Inter" panose="020B0604020202020204" charset="0"/>
                <a:ea typeface="Inter" panose="020B0604020202020204" charset="0"/>
                <a:cs typeface="Calibri" panose="020F0502020204030204" pitchFamily="34" charset="0"/>
                <a:sym typeface="Inter"/>
              </a:rPr>
              <a:t>новое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Inter" panose="020B0604020202020204" charset="0"/>
                <a:ea typeface="Inter" panose="020B0604020202020204" charset="0"/>
                <a:cs typeface="Calibri" panose="020F0502020204030204" pitchFamily="34" charset="0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Inter" panose="020B0604020202020204" charset="0"/>
                <a:ea typeface="Inter" panose="020B0604020202020204" charset="0"/>
                <a:cs typeface="Calibri" panose="020F0502020204030204" pitchFamily="34" charset="0"/>
                <a:sym typeface="Inter"/>
              </a:rPr>
              <a:t>уникальное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Inter" panose="020B0604020202020204" charset="0"/>
                <a:ea typeface="Inter" panose="020B0604020202020204" charset="0"/>
                <a:cs typeface="Calibri" panose="020F0502020204030204" pitchFamily="34" charset="0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Inter" panose="020B0604020202020204" charset="0"/>
                <a:ea typeface="Inter" panose="020B0604020202020204" charset="0"/>
                <a:cs typeface="Calibri" panose="020F0502020204030204" pitchFamily="34" charset="0"/>
                <a:sym typeface="Inter"/>
              </a:rPr>
              <a:t>имя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Inter" panose="020B0604020202020204" charset="0"/>
                <a:ea typeface="Inter" panose="020B0604020202020204" charset="0"/>
                <a:cs typeface="Calibri" panose="020F0502020204030204" pitchFamily="34" charset="0"/>
                <a:sym typeface="Inter"/>
              </a:rPr>
              <a:t> data_1.csv.</a:t>
            </a:r>
            <a:endParaRPr sz="2000" dirty="0">
              <a:latin typeface="Inter" panose="020B0604020202020204" charset="0"/>
              <a:ea typeface="Inter" panose="020B0604020202020204" charset="0"/>
              <a:cs typeface="Calibri" panose="020F0502020204030204" pitchFamily="34" charset="0"/>
            </a:endParaRPr>
          </a:p>
        </p:txBody>
      </p:sp>
      <p:sp>
        <p:nvSpPr>
          <p:cNvPr id="177" name="Google Shape;177;p19"/>
          <p:cNvSpPr txBox="1"/>
          <p:nvPr/>
        </p:nvSpPr>
        <p:spPr>
          <a:xfrm>
            <a:off x="6477000" y="2614612"/>
            <a:ext cx="4780597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 dirty="0" err="1">
                <a:solidFill>
                  <a:srgbClr val="38BDF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 SemiBold"/>
              </a:rPr>
              <a:t>Изоляция</a:t>
            </a:r>
            <a:r>
              <a:rPr lang="en-US" sz="3000" b="0" i="0" u="none" strike="noStrike" cap="none" dirty="0">
                <a:solidFill>
                  <a:srgbClr val="38BDF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 SemiBold"/>
              </a:rPr>
              <a:t> </a:t>
            </a:r>
            <a:r>
              <a:rPr lang="en-US" sz="3000" b="0" i="0" u="none" strike="noStrike" cap="none" dirty="0" err="1">
                <a:solidFill>
                  <a:srgbClr val="38BDF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 SemiBold"/>
              </a:rPr>
              <a:t>системных</a:t>
            </a:r>
            <a:r>
              <a:rPr lang="en-US" sz="3000" b="0" i="0" u="none" strike="noStrike" cap="none" dirty="0">
                <a:solidFill>
                  <a:srgbClr val="38BDF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 SemiBold"/>
              </a:rPr>
              <a:t> </a:t>
            </a:r>
            <a:r>
              <a:rPr lang="en-US" sz="3000" b="0" i="0" u="none" strike="noStrike" cap="none" dirty="0" err="1">
                <a:solidFill>
                  <a:srgbClr val="38BDF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 SemiBold"/>
              </a:rPr>
              <a:t>ошибок</a:t>
            </a:r>
            <a:endParaRPr sz="3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8" name="Google Shape;178;p19"/>
          <p:cNvSpPr txBox="1"/>
          <p:nvPr/>
        </p:nvSpPr>
        <p:spPr>
          <a:xfrm>
            <a:off x="6477000" y="3233360"/>
            <a:ext cx="5236054" cy="1969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При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попытке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переместить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заблокированный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или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системный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файл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программа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лишь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запишет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ошибку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в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лог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не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прерывая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обработку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массива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2000" dirty="0"/>
          </a:p>
        </p:txBody>
      </p:sp>
      <p:sp>
        <p:nvSpPr>
          <p:cNvPr id="179" name="Google Shape;179;p19"/>
          <p:cNvSpPr txBox="1"/>
          <p:nvPr/>
        </p:nvSpPr>
        <p:spPr>
          <a:xfrm>
            <a:off x="571500" y="571500"/>
            <a:ext cx="1160145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 dirty="0" err="1">
                <a:solidFill>
                  <a:srgbClr val="38BDF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 SemiBold"/>
              </a:rPr>
              <a:t>Отказоустойчивость</a:t>
            </a:r>
            <a:endParaRPr sz="4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0"/>
          <p:cNvSpPr/>
          <p:nvPr/>
        </p:nvSpPr>
        <p:spPr>
          <a:xfrm>
            <a:off x="571500" y="4171950"/>
            <a:ext cx="11049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657987" y="4524375"/>
            <a:ext cx="236826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 err="1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 SemiBold"/>
              </a:rPr>
              <a:t>Конфигурации</a:t>
            </a:r>
            <a:endParaRPr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714375" y="4933950"/>
            <a:ext cx="2255490" cy="1231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 err="1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Интеграция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 JSON-</a:t>
            </a:r>
            <a:r>
              <a:rPr lang="en-US" sz="1600" b="0" i="0" u="none" strike="noStrike" cap="none" dirty="0" err="1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словарей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для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гибкой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настройки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пользовательских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правил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без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вмешательства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 в </a:t>
            </a:r>
            <a:r>
              <a:rPr lang="en-US" sz="1600" b="0" i="0" u="none" strike="noStrike" cap="none" dirty="0" err="1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код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.</a:t>
            </a:r>
            <a:endParaRPr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3493907" y="2330053"/>
            <a:ext cx="236826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 SemiBold"/>
              </a:rPr>
              <a:t>System Tray</a:t>
            </a:r>
            <a:endParaRPr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3550294" y="2739628"/>
            <a:ext cx="2255490" cy="1231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 err="1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Создание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фонового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процесса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 с </a:t>
            </a:r>
            <a:r>
              <a:rPr lang="en-US" sz="1600" b="0" i="0" u="none" strike="noStrike" cap="none" dirty="0" err="1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иконкой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для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незаметного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авто-управления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директориями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.</a:t>
            </a:r>
            <a:endParaRPr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6329827" y="4524375"/>
            <a:ext cx="236826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 err="1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 SemiBold"/>
              </a:rPr>
              <a:t>Интеграция</a:t>
            </a:r>
            <a:r>
              <a:rPr lang="en-US" sz="2400" b="0" i="0" u="none" strike="noStrike" cap="none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 SemiBold"/>
              </a:rPr>
              <a:t> LLM</a:t>
            </a:r>
            <a:endParaRPr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6386214" y="4933950"/>
            <a:ext cx="2255490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 err="1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Смысловая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классификация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документов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 с </a:t>
            </a:r>
            <a:r>
              <a:rPr lang="en-US" sz="1600" b="0" i="0" u="none" strike="noStrike" cap="none" dirty="0" err="1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помощью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нейросетей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.</a:t>
            </a:r>
            <a:endParaRPr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9165747" y="2330053"/>
            <a:ext cx="236826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 err="1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 SemiBold"/>
              </a:rPr>
              <a:t>Дедупликация</a:t>
            </a:r>
            <a:endParaRPr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9222134" y="2739628"/>
            <a:ext cx="2255490" cy="1231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 err="1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Внедрение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алгоритмов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хэширования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 (MD5/SHA-256) </a:t>
            </a:r>
            <a:r>
              <a:rPr lang="en-US" sz="1600" b="0" i="0" u="none" strike="noStrike" cap="none" dirty="0" err="1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для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поиска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 и </a:t>
            </a:r>
            <a:r>
              <a:rPr lang="en-US" sz="1600" b="0" i="0" u="none" strike="noStrike" cap="none" dirty="0" err="1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зачистки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 100% </a:t>
            </a:r>
            <a:r>
              <a:rPr lang="en-US" sz="1600" b="0" i="0" u="none" strike="noStrike" cap="none" dirty="0" err="1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идентичных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файлов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/>
              </a:rPr>
              <a:t>.</a:t>
            </a:r>
            <a:endParaRPr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4" name="Google Shape;194;p20"/>
          <p:cNvSpPr/>
          <p:nvPr/>
        </p:nvSpPr>
        <p:spPr>
          <a:xfrm>
            <a:off x="1727820" y="407670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B1120"/>
          </a:solidFill>
          <a:ln w="38100" cap="flat" cmpd="sng">
            <a:solidFill>
              <a:srgbClr val="38BD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95" name="Google Shape;195;p20"/>
          <p:cNvSpPr/>
          <p:nvPr/>
        </p:nvSpPr>
        <p:spPr>
          <a:xfrm>
            <a:off x="4563740" y="407670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B1120"/>
          </a:solidFill>
          <a:ln w="38100" cap="flat" cmpd="sng">
            <a:solidFill>
              <a:srgbClr val="38BD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96" name="Google Shape;196;p20"/>
          <p:cNvSpPr/>
          <p:nvPr/>
        </p:nvSpPr>
        <p:spPr>
          <a:xfrm>
            <a:off x="7399659" y="407670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B1120"/>
          </a:solidFill>
          <a:ln w="38100" cap="flat" cmpd="sng">
            <a:solidFill>
              <a:srgbClr val="38BD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97" name="Google Shape;197;p20"/>
          <p:cNvSpPr/>
          <p:nvPr/>
        </p:nvSpPr>
        <p:spPr>
          <a:xfrm>
            <a:off x="10235579" y="407670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B1120"/>
          </a:solidFill>
          <a:ln w="38100" cap="flat" cmpd="sng">
            <a:solidFill>
              <a:srgbClr val="38BD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>
            <a:off x="571500" y="571500"/>
            <a:ext cx="1160145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 dirty="0" err="1">
                <a:solidFill>
                  <a:srgbClr val="38BDF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 SemiBold"/>
              </a:rPr>
              <a:t>Перспективы</a:t>
            </a:r>
            <a:r>
              <a:rPr lang="en-US" sz="4000" b="0" i="0" u="none" strike="noStrike" cap="none" dirty="0">
                <a:solidFill>
                  <a:srgbClr val="38BDF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 SemiBold"/>
              </a:rPr>
              <a:t> </a:t>
            </a:r>
            <a:r>
              <a:rPr lang="en-US" sz="4000" b="0" i="0" u="none" strike="noStrike" cap="none" dirty="0" err="1">
                <a:solidFill>
                  <a:srgbClr val="38BDF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 SemiBold"/>
              </a:rPr>
              <a:t>развития</a:t>
            </a:r>
            <a:endParaRPr sz="4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4EC184D3-58DD-732A-B0BA-36BAA27A0F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1169615"/>
              </p:ext>
            </p:extLst>
          </p:nvPr>
        </p:nvGraphicFramePr>
        <p:xfrm>
          <a:off x="1062487" y="1182682"/>
          <a:ext cx="10067025" cy="5387544"/>
        </p:xfrm>
        <a:graphic>
          <a:graphicData uri="http://schemas.openxmlformats.org/drawingml/2006/table">
            <a:tbl>
              <a:tblPr/>
              <a:tblGrid>
                <a:gridCol w="2580561">
                  <a:extLst>
                    <a:ext uri="{9D8B030D-6E8A-4147-A177-3AD203B41FA5}">
                      <a16:colId xmlns:a16="http://schemas.microsoft.com/office/drawing/2014/main" val="937824149"/>
                    </a:ext>
                  </a:extLst>
                </a:gridCol>
                <a:gridCol w="2455827">
                  <a:extLst>
                    <a:ext uri="{9D8B030D-6E8A-4147-A177-3AD203B41FA5}">
                      <a16:colId xmlns:a16="http://schemas.microsoft.com/office/drawing/2014/main" val="3878287294"/>
                    </a:ext>
                  </a:extLst>
                </a:gridCol>
                <a:gridCol w="2705295">
                  <a:extLst>
                    <a:ext uri="{9D8B030D-6E8A-4147-A177-3AD203B41FA5}">
                      <a16:colId xmlns:a16="http://schemas.microsoft.com/office/drawing/2014/main" val="2295611172"/>
                    </a:ext>
                  </a:extLst>
                </a:gridCol>
                <a:gridCol w="2325342">
                  <a:extLst>
                    <a:ext uri="{9D8B030D-6E8A-4147-A177-3AD203B41FA5}">
                      <a16:colId xmlns:a16="http://schemas.microsoft.com/office/drawing/2014/main" val="3677753310"/>
                    </a:ext>
                  </a:extLst>
                </a:gridCol>
              </a:tblGrid>
              <a:tr h="84025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ru-RU" sz="1800" b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Функция</a:t>
                      </a:r>
                      <a:endParaRPr lang="ru-RU" sz="18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ru-RU" sz="1800" b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Обычные скрипты (</a:t>
                      </a:r>
                      <a:r>
                        <a:rPr lang="en-US" sz="1800" b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GitHub/YouTube)</a:t>
                      </a:r>
                      <a:endParaRPr lang="en-US" sz="18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ru-RU" sz="1800" b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Платный софт (Easy File Organizer и др.)</a:t>
                      </a:r>
                      <a:endParaRPr lang="ru-RU" sz="18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ru-RU" sz="1800" b="1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Ваш проект</a:t>
                      </a:r>
                      <a:endParaRPr lang="ru-RU" sz="18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4409776"/>
                  </a:ext>
                </a:extLst>
              </a:tr>
              <a:tr h="112034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ru-RU" sz="1800" b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Интерфейс</a:t>
                      </a:r>
                      <a:endParaRPr lang="ru-RU" sz="18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ru-RU" sz="180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Консоль (</a:t>
                      </a:r>
                      <a:r>
                        <a:rPr lang="en-US" sz="180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CLI)</a:t>
                      </a: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ru-RU" sz="18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Перегруженный </a:t>
                      </a:r>
                      <a:r>
                        <a:rPr lang="en-US" sz="18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GUI</a:t>
                      </a: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ru-RU" sz="18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Чистый, современный </a:t>
                      </a:r>
                      <a:r>
                        <a:rPr lang="en-US" sz="18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Web-UI</a:t>
                      </a:r>
                    </a:p>
                  </a:txBody>
                  <a:tcPr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4813600"/>
                  </a:ext>
                </a:extLst>
              </a:tr>
              <a:tr h="84025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ru-RU" sz="1800" b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Предпросмотр</a:t>
                      </a:r>
                      <a:endParaRPr lang="ru-RU" sz="18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ru-RU" sz="180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Нет</a:t>
                      </a: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ru-RU" sz="18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Ограничен</a:t>
                      </a: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ru-RU" sz="18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Интерактивная таблица с выбором</a:t>
                      </a:r>
                    </a:p>
                  </a:txBody>
                  <a:tcPr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9079389"/>
                  </a:ext>
                </a:extLst>
              </a:tr>
              <a:tr h="84025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ru-RU" sz="1800" b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Отчетность</a:t>
                      </a:r>
                      <a:endParaRPr lang="ru-RU" sz="18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ru-RU" sz="180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Текстовый файл</a:t>
                      </a: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ru-RU" sz="18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Нет</a:t>
                      </a: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ru-RU" sz="18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Графический </a:t>
                      </a:r>
                      <a:r>
                        <a:rPr lang="en-US" sz="18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HTML-</a:t>
                      </a:r>
                      <a:r>
                        <a:rPr lang="ru-RU" sz="18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отчет</a:t>
                      </a:r>
                    </a:p>
                  </a:txBody>
                  <a:tcPr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307331"/>
                  </a:ext>
                </a:extLst>
              </a:tr>
              <a:tr h="84025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ru-RU" sz="1800" b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Гибкость</a:t>
                      </a:r>
                      <a:endParaRPr lang="ru-RU" sz="18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ru-RU" sz="180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Нужно менять код</a:t>
                      </a: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ru-RU" sz="180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Жесткие настройки</a:t>
                      </a: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ru-RU" sz="18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Кастомные правила через </a:t>
                      </a:r>
                      <a:r>
                        <a:rPr lang="en-US" sz="18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UI</a:t>
                      </a:r>
                    </a:p>
                  </a:txBody>
                  <a:tcPr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0512946"/>
                  </a:ext>
                </a:extLst>
              </a:tr>
              <a:tr h="84025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ru-RU" sz="1800" b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Безопасность</a:t>
                      </a:r>
                      <a:endParaRPr lang="ru-RU" sz="18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ru-RU" sz="180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На свой страх и риск</a:t>
                      </a: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ru-RU" sz="180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Платная опция</a:t>
                      </a: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ru-RU" sz="18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Встроенный механизм бэкапа</a:t>
                      </a:r>
                    </a:p>
                  </a:txBody>
                  <a:tcPr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95989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7E8DF39B-9F0A-A255-A7E3-DF9CBEC273B7}"/>
              </a:ext>
            </a:extLst>
          </p:cNvPr>
          <p:cNvSpPr txBox="1"/>
          <p:nvPr/>
        </p:nvSpPr>
        <p:spPr>
          <a:xfrm>
            <a:off x="1313011" y="155276"/>
            <a:ext cx="95659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Почему наш сортировщик лучше, чем у конкурентов?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1865326-6052-50DD-F40E-7272D464E3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1050" y="1976437"/>
            <a:ext cx="3009900" cy="290512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436</Words>
  <Application>Microsoft Office PowerPoint</Application>
  <PresentationFormat>Широкоэкранный</PresentationFormat>
  <Paragraphs>90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Inter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Матвей Казарезов</cp:lastModifiedBy>
  <cp:revision>2</cp:revision>
  <dcterms:modified xsi:type="dcterms:W3CDTF">2026-04-22T17:36:55Z</dcterms:modified>
</cp:coreProperties>
</file>